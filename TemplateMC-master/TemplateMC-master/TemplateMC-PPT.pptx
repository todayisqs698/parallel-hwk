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6"/>
  </p:notesMasterIdLst>
  <p:handoutMasterIdLst>
    <p:handoutMasterId r:id="rId7"/>
  </p:handoutMasterIdLst>
  <p:sldIdLst>
    <p:sldId id="439" r:id="rId3"/>
    <p:sldId id="1925" r:id="rId4"/>
    <p:sldId id="200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84378"/>
    <a:srgbClr val="FFFFFF"/>
    <a:srgbClr val="54C3F4"/>
    <a:srgbClr val="22304B"/>
    <a:srgbClr val="C77FAC"/>
    <a:srgbClr val="0062AC"/>
    <a:srgbClr val="ED6C00"/>
    <a:srgbClr val="E2287E"/>
    <a:srgbClr val="2CA738"/>
    <a:srgbClr val="5A2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79686" autoAdjust="0"/>
  </p:normalViewPr>
  <p:slideViewPr>
    <p:cSldViewPr snapToGrid="0">
      <p:cViewPr varScale="1">
        <p:scale>
          <a:sx n="63" d="100"/>
          <a:sy n="63" d="100"/>
        </p:scale>
        <p:origin x="718" y="19"/>
      </p:cViewPr>
      <p:guideLst/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100" b="0" i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这是</a:t>
            </a: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52551"/>
          </a:xfrm>
          <a:solidFill>
            <a:srgbClr val="0062AC"/>
          </a:solidFill>
        </p:spPr>
        <p:txBody>
          <a:bodyPr anchor="ctr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1"/>
            <a:ext cx="12192000" cy="0"/>
          </a:xfrm>
          <a:prstGeom prst="line">
            <a:avLst/>
          </a:prstGeom>
          <a:noFill/>
          <a:ln w="25400">
            <a:solidFill>
              <a:srgbClr val="0062AC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1178636" cy="890648"/>
          </a:xfrm>
          <a:prstGeom prst="rect">
            <a:avLst/>
          </a:prstGeom>
          <a:solidFill>
            <a:srgbClr val="0062A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</a:rPr>
              <a:t>大规模图像的多粒度目标检测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程明明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http://mmcheng.net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The title of the presentation is here</a:t>
            </a:r>
            <a:endParaRPr lang="zh-CN" altLang="en-US" sz="80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1794510" y="3826609"/>
            <a:ext cx="8602980" cy="2423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r>
              <a:rPr lang="en-US" altLang="zh-C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Your Name</a:t>
            </a:r>
          </a:p>
          <a:p>
            <a:pPr>
              <a:spcBef>
                <a:spcPts val="1350"/>
              </a:spcBef>
            </a:pPr>
            <a:r>
              <a:rPr lang="en-US" altLang="zh-C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Nankai University</a:t>
            </a: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  <a:p>
            <a:pPr>
              <a:spcBef>
                <a:spcPts val="1350"/>
              </a:spcBef>
            </a:pP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Richer convolutional feature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APP: Classification (Res2Net-v1b)</a:t>
            </a:r>
          </a:p>
          <a:p>
            <a:pPr lvl="1"/>
            <a:r>
              <a:rPr lang="en-US" altLang="zh-CN" dirty="0"/>
              <a:t>Results on </a:t>
            </a:r>
            <a:r>
              <a:rPr lang="en-US" altLang="zh-CN" dirty="0" err="1"/>
              <a:t>mmdetection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799464"/>
              </p:ext>
            </p:extLst>
          </p:nvPr>
        </p:nvGraphicFramePr>
        <p:xfrm>
          <a:off x="488938" y="2496538"/>
          <a:ext cx="11214123" cy="3645835"/>
        </p:xfrm>
        <a:graphic>
          <a:graphicData uri="http://schemas.openxmlformats.org/drawingml/2006/table">
            <a:tbl>
              <a:tblPr/>
              <a:tblGrid>
                <a:gridCol w="377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7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8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9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Backbone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Params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GFLOPs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top-1 err.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effectLst/>
                        </a:rPr>
                        <a:t>top-5 err.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ResNet-101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>
                          <a:effectLst/>
                        </a:rPr>
                        <a:t>44.6 M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7.8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22.63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6.44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algn="ctr"/>
                      <a:r>
                        <a:rPr lang="en-GB" sz="3200">
                          <a:effectLst/>
                        </a:rPr>
                        <a:t>ResNeXt-101-64x4d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83.5M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15.5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20.40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-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HRNetV2p-W48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rgbClr val="C00000"/>
                          </a:solidFill>
                          <a:effectLst/>
                        </a:rPr>
                        <a:t>77.5M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16.1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20.70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5.50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Res2Net-v1b-50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rgbClr val="C00000"/>
                          </a:solidFill>
                          <a:effectLst/>
                        </a:rPr>
                        <a:t>25.23M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4.5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C00000"/>
                          </a:solidFill>
                          <a:effectLst/>
                        </a:rPr>
                        <a:t>19.73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4.96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Res2Net</a:t>
                      </a:r>
                      <a:r>
                        <a:rPr lang="en-GB" altLang="zh-CN" sz="3200" dirty="0">
                          <a:effectLst/>
                        </a:rPr>
                        <a:t>-v1b</a:t>
                      </a:r>
                      <a:r>
                        <a:rPr lang="en-GB" sz="3200" dirty="0">
                          <a:effectLst/>
                        </a:rPr>
                        <a:t>-101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effectLst/>
                        </a:rPr>
                        <a:t>45.2M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8.3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effectLst/>
                        </a:rPr>
                        <a:t>18.77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effectLst/>
                        </a:rPr>
                        <a:t>4.64</a:t>
                      </a:r>
                    </a:p>
                  </a:txBody>
                  <a:tcPr marL="121138" marR="121138" marT="55910" marB="5591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7816816" y="1132274"/>
            <a:ext cx="3932926" cy="1130300"/>
            <a:chOff x="5067300" y="785712"/>
            <a:chExt cx="3932926" cy="11303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5067300" y="785712"/>
              <a:ext cx="3848100" cy="5969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67300" y="1382612"/>
              <a:ext cx="3932926" cy="533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4C3F4"/>
                </a:solidFill>
              </a:rPr>
              <a:t>D</a:t>
            </a:r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en-US" altLang="zh-CN" dirty="0">
                <a:solidFill>
                  <a:srgbClr val="C77FAC"/>
                </a:solidFill>
              </a:rPr>
              <a:t>X</a:t>
            </a:r>
            <a:r>
              <a:rPr lang="zh-CN" altLang="en-US" dirty="0"/>
              <a:t>行动倡议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4C3F4"/>
                </a:solidFill>
              </a:rPr>
              <a:t>D</a:t>
            </a:r>
            <a:r>
              <a:rPr lang="en-US" altLang="zh-CN" dirty="0"/>
              <a:t>emo: </a:t>
            </a:r>
            <a:r>
              <a:rPr lang="zh-CN" altLang="en-US" dirty="0"/>
              <a:t>方便科普和教学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O</a:t>
            </a:r>
            <a:r>
              <a:rPr lang="en-US" altLang="zh-CN" dirty="0"/>
              <a:t>pen source: </a:t>
            </a:r>
            <a:r>
              <a:rPr lang="zh-CN" altLang="en-US" dirty="0"/>
              <a:t>方便同行复现与验证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en-US" altLang="zh-CN" dirty="0"/>
              <a:t>hinese: </a:t>
            </a:r>
            <a:r>
              <a:rPr lang="zh-CN" altLang="en-US" dirty="0"/>
              <a:t>提供中文版论文</a:t>
            </a:r>
            <a:endParaRPr lang="en-US" altLang="zh-CN" dirty="0"/>
          </a:p>
          <a:p>
            <a:r>
              <a:rPr lang="en-US" altLang="zh-CN" dirty="0" err="1"/>
              <a:t>e</a:t>
            </a:r>
            <a:r>
              <a:rPr lang="en-US" altLang="zh-CN" dirty="0" err="1">
                <a:solidFill>
                  <a:srgbClr val="C77FAC"/>
                </a:solidFill>
              </a:rPr>
              <a:t>X</a:t>
            </a:r>
            <a:r>
              <a:rPr lang="en-US" altLang="zh-CN" dirty="0" err="1"/>
              <a:t>plain</a:t>
            </a:r>
            <a:r>
              <a:rPr lang="en-US" altLang="zh-CN" dirty="0"/>
              <a:t>: </a:t>
            </a:r>
            <a:r>
              <a:rPr lang="zh-CN" altLang="en-US" dirty="0"/>
              <a:t>及时回应项目主页上读者提问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8845" y="4727884"/>
            <a:ext cx="7074310" cy="1568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谢谢</a:t>
            </a:r>
            <a:r>
              <a:rPr lang="en-US" altLang="zh-CN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95</Words>
  <Application>Microsoft Office PowerPoint</Application>
  <PresentationFormat>宽屏</PresentationFormat>
  <Paragraphs>46</Paragraphs>
  <Slides>3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黑体</vt:lpstr>
      <vt:lpstr>华文楷体</vt:lpstr>
      <vt:lpstr>华文新魏</vt:lpstr>
      <vt:lpstr>Arial</vt:lpstr>
      <vt:lpstr>Calibri</vt:lpstr>
      <vt:lpstr>Times New Roman</vt:lpstr>
      <vt:lpstr>Office Theme</vt:lpstr>
      <vt:lpstr>The title of the presentation is here</vt:lpstr>
      <vt:lpstr>Richer convolutional feature</vt:lpstr>
      <vt:lpstr>DOCX行动倡议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Yimian Dai</cp:lastModifiedBy>
  <cp:revision>743</cp:revision>
  <dcterms:created xsi:type="dcterms:W3CDTF">2019-08-31T02:02:00Z</dcterms:created>
  <dcterms:modified xsi:type="dcterms:W3CDTF">2025-10-31T01:20:43Z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